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1" Type="http://schemas.openxmlformats.org/officeDocument/2006/relationships/viewProps" Target="viewProps.xml" /><Relationship Id="rId6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3" Type="http://schemas.openxmlformats.org/officeDocument/2006/relationships/tableStyles" Target="tableStyles.xml" /><Relationship Id="rId6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Бердыев Эзиз, НФИмд 01-25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Моделирование атакующего потока событий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Целью работы является изучение методов моделирования случайных процессов</a:t>
            </a:r>
            <a:br/>
            <a:r>
              <a:rPr/>
              <a:t>и оценка вероятностей событий с использованием численных методов,</a:t>
            </a:r>
            <a:br/>
            <a:r>
              <a:rPr/>
              <a:t>в частности метода Монте-Карло.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Постановка задачи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Необходимо смоделировать поток атакующих событий</a:t>
            </a:r>
            <a:br/>
            <a:r>
              <a:rPr/>
              <a:t>и определить вероятность наступления заданного события</a:t>
            </a:r>
            <a:br/>
            <a:r>
              <a:rPr/>
              <a:t>на основе численного эксперимента.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Постановка задачи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рамках работы требуется:</a:t>
            </a:r>
          </a:p>
          <a:p>
            <a:pPr lvl="0"/>
            <a:r>
              <a:rPr/>
              <a:t>реализовать модель случайного процесса</a:t>
            </a:r>
          </a:p>
          <a:p>
            <a:pPr lvl="0"/>
            <a:r>
              <a:rPr/>
              <a:t>провести серию численных экспериментов</a:t>
            </a:r>
          </a:p>
          <a:p>
            <a:pPr lvl="0"/>
            <a:r>
              <a:rPr/>
              <a:t>вычислить эмпирическую вероятность</a:t>
            </a:r>
          </a:p>
          <a:p>
            <a:pPr lvl="0"/>
            <a:r>
              <a:rPr/>
              <a:t>сравнить её с теоретическим значением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Параметры модели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модели используются следующие параметры:</a:t>
            </a:r>
          </a:p>
          <a:p>
            <a:pPr lvl="0"/>
            <a:r>
              <a:rPr/>
              <a:t>λ — интенсивность атакующего потока</a:t>
            </a:r>
          </a:p>
          <a:p>
            <a:pPr lvl="0"/>
            <a:r>
              <a:rPr/>
              <a:t>T — интервал времени наблюдения</a:t>
            </a:r>
          </a:p>
          <a:p>
            <a:pPr lvl="0"/>
            <a:r>
              <a:rPr/>
              <a:t>N — количество экспериментов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Выбранная модель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моделирования используется пуассоновский процесс,</a:t>
            </a:r>
            <a:br/>
            <a:r>
              <a:rPr/>
              <a:t>который описывает поток случайных событий,</a:t>
            </a:r>
            <a:br/>
            <a:r>
              <a:rPr/>
              <a:t>происходящих независимо друг от друга.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Обоснование выбора модели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Пуассоновский процесс подходит для описания атак,</a:t>
            </a:r>
            <a:br/>
            <a:r>
              <a:rPr/>
              <a:t>так как:</a:t>
            </a:r>
          </a:p>
          <a:p>
            <a:pPr lvl="0"/>
            <a:r>
              <a:rPr/>
              <a:t>события происходят случайно</a:t>
            </a:r>
          </a:p>
          <a:p>
            <a:pPr lvl="0"/>
            <a:r>
              <a:rPr/>
              <a:t>события независимы</a:t>
            </a:r>
          </a:p>
          <a:p>
            <a:pPr lvl="0"/>
            <a:r>
              <a:rPr/>
              <a:t>интенсивность потока постоянна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 модели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была реализована на языке программирования Julia.</a:t>
            </a:r>
          </a:p>
          <a:p>
            <a:pPr lvl="0" indent="0" marL="0">
              <a:buNone/>
            </a:pPr>
            <a:r>
              <a:rPr/>
              <a:t>Для работы использовались библиотеки:</a:t>
            </a:r>
          </a:p>
          <a:p>
            <a:pPr lvl="0"/>
            <a:r>
              <a:rPr/>
              <a:t>Distributions — для генерации случайных величин</a:t>
            </a:r>
          </a:p>
          <a:p>
            <a:pPr lvl="0"/>
            <a:r>
              <a:rPr/>
              <a:t>DrWatson — для организации проекта</a:t>
            </a:r>
          </a:p>
          <a:p>
            <a:pPr lvl="0"/>
            <a:r>
              <a:rPr/>
              <a:t>StatsPlots — для визуализации результатов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Проведение эксперимента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 заключался в многократном моделировании процесса.</a:t>
            </a:r>
          </a:p>
          <a:p>
            <a:pPr lvl="0" indent="0" marL="0">
              <a:buNone/>
            </a:pPr>
            <a:r>
              <a:rPr/>
              <a:t>Было выполнено N = 10000 запусков,</a:t>
            </a:r>
            <a:br/>
            <a:r>
              <a:rPr/>
              <a:t>в каждом из которых проверялось наступление события.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 эксперимента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моделирования была получена</a:t>
            </a:r>
            <a:br/>
            <a:r>
              <a:rPr/>
              <a:t>эмпирическая вероятность события:</a:t>
            </a:r>
          </a:p>
          <a:p>
            <a:pPr lvl="0" indent="0" marL="0">
              <a:buNone/>
            </a:pPr>
            <a:r>
              <a:rPr/>
              <a:t>≈ 0.0139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Теоретическое значение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вероятность была рассчитана аналитически</a:t>
            </a:r>
            <a:br/>
            <a:r>
              <a:rPr/>
              <a:t>и составила:</a:t>
            </a:r>
          </a:p>
          <a:p>
            <a:pPr lvl="0" indent="0" marL="0">
              <a:buNone/>
            </a:pPr>
            <a:r>
              <a:rPr/>
              <a:t>≈ 0.0137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Сравнение результатов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Полученные значения близки друг к другу,</a:t>
            </a:r>
            <a:br/>
            <a:r>
              <a:rPr/>
              <a:t>что свидетельствует о корректности модели</a:t>
            </a:r>
            <a:br/>
            <a:r>
              <a:rPr/>
              <a:t>и правильности её реализации.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анализа результатов были построены:</a:t>
            </a:r>
          </a:p>
          <a:p>
            <a:pPr lvl="0"/>
            <a:r>
              <a:rPr/>
              <a:t>гистограммы распределения</a:t>
            </a:r>
          </a:p>
          <a:p>
            <a:pPr lvl="0"/>
            <a:r>
              <a:rPr/>
              <a:t>графики вероятностей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Анализ результатов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Наблюдается хорошее совпадение</a:t>
            </a:r>
            <a:br/>
            <a:r>
              <a:rPr/>
              <a:t>между теоретическими и экспериментальными данными.</a:t>
            </a:r>
          </a:p>
          <a:p>
            <a:pPr lvl="0" indent="0" marL="0">
              <a:buNone/>
            </a:pPr>
            <a:r>
              <a:rPr/>
              <a:t>Погрешность обусловлена случайным характером моделирования.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2.6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Почему для моделирования используется пуассоновский процесс?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Ответ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Пуассоновский процесс используется, так как он описывает поток случайных событий,</a:t>
            </a:r>
            <a:br/>
            <a:r>
              <a:rPr/>
              <a:t>происходящих независимо друг от друга с постоянной средней интенсивностью.</a:t>
            </a:r>
          </a:p>
          <a:p>
            <a:pPr lvl="0" indent="0" marL="0">
              <a:buNone/>
            </a:pPr>
            <a:r>
              <a:rPr/>
              <a:t>Такая модель хорошо подходит для описания атакующего потока.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2.6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Почему эмпирическая вероятность отличается от теоретической?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Ответ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Эмпирическая вероятность получается в результате случайного моделирования</a:t>
            </a:r>
            <a:br/>
            <a:r>
              <a:rPr/>
              <a:t>и зависит от конкретной выборки.</a:t>
            </a:r>
          </a:p>
          <a:p>
            <a:pPr lvl="0" indent="0" marL="0">
              <a:buNone/>
            </a:pPr>
            <a:r>
              <a:rPr/>
              <a:t>Различие возникает из-за случайных колебаний</a:t>
            </a:r>
            <a:br/>
            <a:r>
              <a:rPr/>
              <a:t>и ограниченного числа экспериментов.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2.6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Почему при увеличении числа экспериментов результат становится точнее?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Ответ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Согласно закону больших чисел, при увеличении количества экспериментов</a:t>
            </a:r>
            <a:br/>
            <a:r>
              <a:rPr/>
              <a:t>эмпирическая вероятность стремится к теоретической.</a:t>
            </a:r>
          </a:p>
          <a:p>
            <a:pPr lvl="0" indent="0" marL="0">
              <a:buNone/>
            </a:pPr>
            <a:r>
              <a:rPr/>
              <a:t>Это уменьшает влияние случайных отклонений.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2.6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 влияет параметр λ на модель?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Ответ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 λ определяет интенсивность потока событий.</a:t>
            </a:r>
          </a:p>
          <a:p>
            <a:pPr lvl="0" indent="0" marL="0">
              <a:buNone/>
            </a:pPr>
            <a:r>
              <a:rPr/>
              <a:t>При увеличении λ события происходят чаще,</a:t>
            </a:r>
            <a:br/>
            <a:r>
              <a:rPr/>
              <a:t>и вероятность наступления события возрастает.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2.6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Зачем используется метод Монте-Карло?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Ответ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Метод Монте-Карло позволяет численно оценивать вероятности</a:t>
            </a:r>
            <a:br/>
            <a:r>
              <a:rPr/>
              <a:t>путём многократного моделирования случайных процессов.</a:t>
            </a:r>
          </a:p>
          <a:p>
            <a:pPr lvl="0" indent="0" marL="0">
              <a:buNone/>
            </a:pPr>
            <a:r>
              <a:rPr/>
              <a:t>Он особенно полезен в сложных системах,</a:t>
            </a:r>
            <a:br/>
            <a:r>
              <a:rPr/>
              <a:t>где аналитическое решение получить трудно.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Вопрос 2.6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Почему результаты можно считать корректными?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Ответ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Результаты считаются корректными, так как:</a:t>
            </a:r>
          </a:p>
          <a:p>
            <a:pPr lvl="0"/>
            <a:r>
              <a:rPr/>
              <a:t>эмпирическая вероятность близка к теоретической</a:t>
            </a:r>
          </a:p>
          <a:p>
            <a:pPr lvl="0"/>
            <a:r>
              <a:rPr/>
              <a:t>модель соответствует математической теории</a:t>
            </a:r>
          </a:p>
          <a:p>
            <a:pPr lvl="0"/>
            <a:r>
              <a:rPr/>
              <a:t>при увеличении числа экспериментов погрешность уменьшается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работы была успешно реализована модель</a:t>
            </a:r>
            <a:br/>
            <a:r>
              <a:rPr/>
              <a:t>атакующего потока событий на основе пуассоновского процесса.</a:t>
            </a:r>
          </a:p>
          <a:p>
            <a:pPr lvl="0" indent="0" marL="0">
              <a:buNone/>
            </a:pPr>
            <a:r>
              <a:rPr/>
              <a:t>Полученные результаты подтвердили теоретические оценки.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Итог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Методы моделирования показали свою эффективность</a:t>
            </a:r>
            <a:br/>
            <a:r>
              <a:rPr/>
              <a:t>и могут применяться для анализа реальных процессов.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Спасибо за внимание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№2</dc:title>
  <dc:creator>Бердыев Эзиз, НФИмд 01-25</dc:creator>
  <cp:keywords/>
  <dcterms:created xsi:type="dcterms:W3CDTF">2026-04-04T16:45:04Z</dcterms:created>
  <dcterms:modified xsi:type="dcterms:W3CDTF">2026-04-04T16:45:04Z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Содержание</vt:lpwstr>
  </property>
</Properties>
</file>